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70" r:id="rId7"/>
    <p:sldId id="271" r:id="rId8"/>
    <p:sldId id="272" r:id="rId9"/>
    <p:sldId id="273" r:id="rId10"/>
    <p:sldId id="274" r:id="rId11"/>
    <p:sldId id="268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5"/>
    <p:restoredTop sz="94610"/>
  </p:normalViewPr>
  <p:slideViewPr>
    <p:cSldViewPr snapToGrid="0" snapToObjects="1">
      <p:cViewPr>
        <p:scale>
          <a:sx n="161" d="100"/>
          <a:sy n="161" d="100"/>
        </p:scale>
        <p:origin x="80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757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A5D6A7"/>
                </a:solidFill>
              </a:rPr>
              <a:t>♻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02920" y="19202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TrustMeRecycle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 Collection Made Easy — End-to-End Recycling Logistics for India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trustmerecycle.in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3743" y="342900"/>
            <a:ext cx="2468880" cy="4206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2920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753D622-EC4C-AF7B-C063-15A2A94E5BF2}"/>
              </a:ext>
            </a:extLst>
          </p:cNvPr>
          <p:cNvGrpSpPr/>
          <p:nvPr/>
        </p:nvGrpSpPr>
        <p:grpSpPr>
          <a:xfrm>
            <a:off x="6709607" y="609191"/>
            <a:ext cx="1977193" cy="3465699"/>
            <a:chOff x="6709607" y="609191"/>
            <a:chExt cx="1977193" cy="346569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F1D9BE9-65BD-5451-C442-7018C7A4BDD2}"/>
                </a:ext>
              </a:extLst>
            </p:cNvPr>
            <p:cNvGrpSpPr/>
            <p:nvPr/>
          </p:nvGrpSpPr>
          <p:grpSpPr>
            <a:xfrm>
              <a:off x="6709607" y="3570890"/>
              <a:ext cx="1977193" cy="504000"/>
              <a:chOff x="6709607" y="3570890"/>
              <a:chExt cx="1977193" cy="504000"/>
            </a:xfrm>
          </p:grpSpPr>
          <p:sp>
            <p:nvSpPr>
              <p:cNvPr id="15" name="Text 13"/>
              <p:cNvSpPr/>
              <p:nvPr/>
            </p:nvSpPr>
            <p:spPr>
              <a:xfrm>
                <a:off x="7315200" y="3594290"/>
                <a:ext cx="13716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Realtime Data</a:t>
                </a:r>
                <a:endParaRPr lang="en-US" sz="1300" dirty="0"/>
              </a:p>
            </p:txBody>
          </p:sp>
          <p:pic>
            <p:nvPicPr>
              <p:cNvPr id="18" name="Graphic 17" descr="Presentation with pie chart with solid fill">
                <a:extLst>
                  <a:ext uri="{FF2B5EF4-FFF2-40B4-BE49-F238E27FC236}">
                    <a16:creationId xmlns:a16="http://schemas.microsoft.com/office/drawing/2014/main" id="{2EB66854-E879-BD4E-0872-8AC6B8D891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709607" y="3570890"/>
                <a:ext cx="504000" cy="504000"/>
              </a:xfrm>
              <a:prstGeom prst="rect">
                <a:avLst/>
              </a:prstGeom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3B33D15-871F-40A3-EAF3-E884545D6D79}"/>
                </a:ext>
              </a:extLst>
            </p:cNvPr>
            <p:cNvGrpSpPr/>
            <p:nvPr/>
          </p:nvGrpSpPr>
          <p:grpSpPr>
            <a:xfrm>
              <a:off x="6709607" y="2583657"/>
              <a:ext cx="1977193" cy="504000"/>
              <a:chOff x="6709607" y="2581720"/>
              <a:chExt cx="1977193" cy="504000"/>
            </a:xfrm>
          </p:grpSpPr>
          <p:sp>
            <p:nvSpPr>
              <p:cNvPr id="13" name="Text 11"/>
              <p:cNvSpPr/>
              <p:nvPr/>
            </p:nvSpPr>
            <p:spPr>
              <a:xfrm>
                <a:off x="7315200" y="2605120"/>
                <a:ext cx="13716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B2B2B SaaS</a:t>
                </a:r>
                <a:endParaRPr lang="en-US" sz="1300" dirty="0"/>
              </a:p>
            </p:txBody>
          </p:sp>
          <p:pic>
            <p:nvPicPr>
              <p:cNvPr id="20" name="Graphic 19" descr="Cloud Computing with solid fill">
                <a:extLst>
                  <a:ext uri="{FF2B5EF4-FFF2-40B4-BE49-F238E27FC236}">
                    <a16:creationId xmlns:a16="http://schemas.microsoft.com/office/drawing/2014/main" id="{60983A54-FA4C-E07D-29EA-E1AFCD1F60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709607" y="2581720"/>
                <a:ext cx="504000" cy="504000"/>
              </a:xfrm>
              <a:prstGeom prst="rect">
                <a:avLst/>
              </a:prstGeom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AEAD2D2-2297-856C-4865-C98FEB0E4323}"/>
                </a:ext>
              </a:extLst>
            </p:cNvPr>
            <p:cNvGrpSpPr/>
            <p:nvPr/>
          </p:nvGrpSpPr>
          <p:grpSpPr>
            <a:xfrm>
              <a:off x="6709607" y="1596424"/>
              <a:ext cx="1977193" cy="504000"/>
              <a:chOff x="6709607" y="1595456"/>
              <a:chExt cx="1977193" cy="504000"/>
            </a:xfrm>
          </p:grpSpPr>
          <p:sp>
            <p:nvSpPr>
              <p:cNvPr id="11" name="Text 9"/>
              <p:cNvSpPr/>
              <p:nvPr/>
            </p:nvSpPr>
            <p:spPr>
              <a:xfrm>
                <a:off x="7315200" y="1618856"/>
                <a:ext cx="13716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Mobile App</a:t>
                </a:r>
                <a:endParaRPr lang="en-US" sz="1300" dirty="0"/>
              </a:p>
            </p:txBody>
          </p:sp>
          <p:pic>
            <p:nvPicPr>
              <p:cNvPr id="22" name="Graphic 21" descr="Smart Phone with solid fill">
                <a:extLst>
                  <a:ext uri="{FF2B5EF4-FFF2-40B4-BE49-F238E27FC236}">
                    <a16:creationId xmlns:a16="http://schemas.microsoft.com/office/drawing/2014/main" id="{873CB401-1701-AA11-17FB-76BD2A7F54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709607" y="1595456"/>
                <a:ext cx="504000" cy="504000"/>
              </a:xfrm>
              <a:prstGeom prst="rect">
                <a:avLst/>
              </a:prstGeom>
            </p:spPr>
          </p:pic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CCBDBCB-C5BF-A5EF-6727-7B74256B8101}"/>
                </a:ext>
              </a:extLst>
            </p:cNvPr>
            <p:cNvGrpSpPr/>
            <p:nvPr/>
          </p:nvGrpSpPr>
          <p:grpSpPr>
            <a:xfrm>
              <a:off x="6709607" y="609191"/>
              <a:ext cx="1977193" cy="504000"/>
              <a:chOff x="6709607" y="609191"/>
              <a:chExt cx="1977193" cy="504000"/>
            </a:xfrm>
          </p:grpSpPr>
          <p:sp>
            <p:nvSpPr>
              <p:cNvPr id="9" name="Text 7"/>
              <p:cNvSpPr/>
              <p:nvPr/>
            </p:nvSpPr>
            <p:spPr>
              <a:xfrm>
                <a:off x="7315200" y="632591"/>
                <a:ext cx="13716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14+ Sites</a:t>
                </a:r>
                <a:endParaRPr lang="en-US" sz="1300" dirty="0"/>
              </a:p>
            </p:txBody>
          </p:sp>
          <p:pic>
            <p:nvPicPr>
              <p:cNvPr id="24" name="Graphic 23" descr="Factory with solid fill">
                <a:extLst>
                  <a:ext uri="{FF2B5EF4-FFF2-40B4-BE49-F238E27FC236}">
                    <a16:creationId xmlns:a16="http://schemas.microsoft.com/office/drawing/2014/main" id="{681B3961-027F-D320-092C-1AD1965370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6709607" y="609191"/>
                <a:ext cx="504000" cy="50400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097280" cy="457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Operations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 logistics run on spreadsheets, WhatsApp messages, and phone calls — no central visibility.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77840" y="1280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Inventory Tracking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7373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Godowns overflow silently. Businesses have no live view of stock levels across their collection network.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154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🚛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31546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Uncoordinated Dispatch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611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Trucks are sent without proof-of-pickup, route data, or weight verification, causing revenue leakage.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301752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3154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77840" y="31546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Analytics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611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historical data on scrap volumes, material types, or vendor performance — decisions made blind.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Three roles. Complete recycling lifecycle.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1920240" cy="3108960"/>
          </a:xfrm>
          <a:prstGeom prst="rect">
            <a:avLst/>
          </a:prstGeom>
          <a:solidFill>
            <a:srgbClr val="2E7D32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645920"/>
            <a:ext cx="731520" cy="73152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submits scrap pickup via mobile app with address, material type &amp; estimated weight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04288" y="2011680"/>
            <a:ext cx="182880" cy="457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508760"/>
            <a:ext cx="1920240" cy="3108960"/>
          </a:xfrm>
          <a:prstGeom prst="rect">
            <a:avLst/>
          </a:prstGeom>
          <a:solidFill>
            <a:srgbClr val="2E7D32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645920"/>
            <a:ext cx="731520" cy="73152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0604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06040" y="30175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 request, assigns nearest available godown &amp; creates a collection job in one click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53128" y="2011680"/>
            <a:ext cx="182880" cy="457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508760"/>
            <a:ext cx="1920240" cy="3108960"/>
          </a:xfrm>
          <a:prstGeom prst="rect">
            <a:avLst/>
          </a:prstGeom>
          <a:solidFill>
            <a:srgbClr val="2E7D32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7800" y="1645920"/>
            <a:ext cx="731520" cy="731520"/>
          </a:xfrm>
          <a:prstGeom prst="ellipse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30175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dispatches truck with driver details, completes pickup with photo proof &amp; weight entry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01968" y="2011680"/>
            <a:ext cx="182880" cy="457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508760"/>
            <a:ext cx="1920240" cy="3108960"/>
          </a:xfrm>
          <a:prstGeom prst="rect">
            <a:avLst/>
          </a:prstGeom>
          <a:solidFill>
            <a:srgbClr val="2E7D32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1645920"/>
            <a:ext cx="731520" cy="731520"/>
          </a:xfrm>
          <a:prstGeom prst="ellipse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0372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03720" y="30175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syncs status, updates inventory, triggers notifications and generates audit-ready reports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0604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" y="1664208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6276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mobile app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" y="2350008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21899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with name &amp; phone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3035808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29992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pickup request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(address, scrap type,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weight)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3721608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35615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status in real-time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4407408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4273349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collection history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1005840"/>
            <a:ext cx="260604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55848" y="1664208"/>
            <a:ext cx="274320" cy="27432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03320" y="1508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incoming requests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55848" y="2350008"/>
            <a:ext cx="274320" cy="27432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03320" y="225399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godown capacity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proximity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55848" y="3035808"/>
            <a:ext cx="274320" cy="27432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03320" y="28757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vendor + godown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(1-click auto job creation)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55848" y="3721608"/>
            <a:ext cx="274320" cy="27432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03320" y="35615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Dispatches truck with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&amp; vehicle details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55848" y="4407408"/>
            <a:ext cx="274320" cy="27432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5584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03320" y="42473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collection reports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1005840"/>
            <a:ext cx="2606040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236208" y="1664208"/>
            <a:ext cx="274320" cy="27432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36208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583680" y="1508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notification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mobile app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36208" y="2350008"/>
            <a:ext cx="274320" cy="27432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3620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583680" y="21899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job details: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godown, truck, address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36208" y="3035808"/>
            <a:ext cx="274320" cy="27432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36208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583680" y="287121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Travels to customer site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36208" y="3721608"/>
            <a:ext cx="274320" cy="27432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36208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83680" y="35615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photo proof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weighs collected scrap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36208" y="4407408"/>
            <a:ext cx="274320" cy="27432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3620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583680" y="42473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job complete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interfaces. One unified data layer.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06040" cy="3383280"/>
          </a:xfrm>
          <a:prstGeom prst="rect">
            <a:avLst/>
          </a:prstGeom>
          <a:solidFill>
            <a:srgbClr val="2E7D32"/>
          </a:solidFill>
          <a:ln w="12700">
            <a:solidFill>
              <a:srgbClr val="388E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63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Web Panel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4414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 — Full control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Godown &amp; vendor management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31455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dispatch workflow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4564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request assignment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7673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 type &amp; pricing CRUD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40782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reports (Excel/PDF)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alerts &amp; analytics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371600"/>
            <a:ext cx="2606040" cy="338328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46120" y="1463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37560" y="20299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Mobile App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7560" y="24414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 — Field ops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8346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job dashboard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83280" y="31455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→ City → Site picker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83280" y="34564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proof capture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37673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entry &amp; submission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83280" y="40782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support + sync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83280" y="43891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history &amp; export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1371600"/>
            <a:ext cx="2606040" cy="3383280"/>
          </a:xfrm>
          <a:prstGeom prst="rect">
            <a:avLst/>
          </a:prstGeom>
          <a:solidFill>
            <a:srgbClr val="2E7D32"/>
          </a:solidFill>
          <a:ln w="12700">
            <a:solidFill>
              <a:srgbClr val="388E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14630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217920" y="20299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Mobile App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17920" y="24414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 — Self-serve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8346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Self-registration flow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31455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request creation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63640" y="34564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tracking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63640" y="37673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history view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63640" y="40782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vendor details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63640" y="43891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date scheduling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97BC62"/>
                </a:solidFill>
              </a:rPr>
              <a:t>Admin Panel — Customer Pickup 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Admin receives &amp; manages scrap pickup requests from Blinkit, Zepto, Zomato, Amazon and Flipkart warehouses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048654" y="952992"/>
            <a:ext cx="5400000" cy="35118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686300"/>
            <a:ext cx="8448654" cy="365760"/>
          </a:xfrm>
          <a:prstGeom prst="rect">
            <a:avLst/>
          </a:prstGeom>
          <a:solidFill>
            <a:srgbClr val="1A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0" y="4686300"/>
            <a:ext cx="878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CCCCCC"/>
                </a:solidFill>
              </a:rPr>
              <a:t>Live data  ·  4 active requests: Completed | Truck Dispatched | Assigned | Pending Review  ·  Admin assigns to vendor site in one click</a:t>
            </a:r>
          </a:p>
        </p:txBody>
      </p:sp>
    </p:spTree>
    <p:extLst>
      <p:ext uri="{BB962C8B-B14F-4D97-AF65-F5344CB8AC3E}">
        <p14:creationId xmlns:p14="http://schemas.microsoft.com/office/powerpoint/2010/main" val="2357352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97BC62"/>
                </a:solidFill>
              </a:rPr>
              <a:t>Admin Panel — Collection Job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Dispatch trucks, assign drivers, track scrap weight collected — full end-to-end job lifecycle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36532" y="971550"/>
            <a:ext cx="5400000" cy="35118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640580"/>
            <a:ext cx="8536532" cy="365760"/>
          </a:xfrm>
          <a:prstGeom prst="rect">
            <a:avLst/>
          </a:prstGeom>
          <a:solidFill>
            <a:srgbClr val="1A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0" y="4686300"/>
            <a:ext cx="85365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Live data  ·  South Godown: Truck Dispatched  ·  North Godown: Completed 4.80 MT  ·  2× Pending pickup  ·  'Not Picked Up' alert triggers follow-up</a:t>
            </a:r>
          </a:p>
        </p:txBody>
      </p:sp>
    </p:spTree>
    <p:extLst>
      <p:ext uri="{BB962C8B-B14F-4D97-AF65-F5344CB8AC3E}">
        <p14:creationId xmlns:p14="http://schemas.microsoft.com/office/powerpoint/2010/main" val="4265498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97BC62"/>
                </a:solidFill>
              </a:rPr>
              <a:t>Admin Panel — Real-Time Site Capacity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16 active godown sites across Delhi, Bengaluru &amp; Lucknow — automated overflow alerts when capacity exceeds 100%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265560" y="945863"/>
            <a:ext cx="5400000" cy="35118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560" y="4640580"/>
            <a:ext cx="8640000" cy="365760"/>
          </a:xfrm>
          <a:prstGeom prst="rect">
            <a:avLst/>
          </a:prstGeom>
          <a:solidFill>
            <a:srgbClr val="1A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560" y="4686300"/>
            <a:ext cx="891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Live data  ·  North Godown: 121.0% OVER CAPACITY (alert)  ·  South Godown: 52.8%  ·  Per-site View Report &amp; Dispatch Truck actions</a:t>
            </a:r>
          </a:p>
        </p:txBody>
      </p:sp>
    </p:spTree>
    <p:extLst>
      <p:ext uri="{BB962C8B-B14F-4D97-AF65-F5344CB8AC3E}">
        <p14:creationId xmlns:p14="http://schemas.microsoft.com/office/powerpoint/2010/main" val="3891487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97BC62"/>
                </a:solidFill>
              </a:rPr>
              <a:t>Vendor Mobile App — Role Select &amp; Collection Dashboard</a:t>
            </a:r>
          </a:p>
        </p:txBody>
      </p:sp>
      <p:pic>
        <p:nvPicPr>
          <p:cNvPr id="4" name="Picture 3" descr="vendor_scre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228" y="777240"/>
            <a:ext cx="1530527" cy="3401170"/>
          </a:xfrm>
          <a:prstGeom prst="rect">
            <a:avLst/>
          </a:prstGeom>
        </p:spPr>
      </p:pic>
      <p:pic>
        <p:nvPicPr>
          <p:cNvPr id="5" name="Picture 4" descr="vendo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101" y="596890"/>
            <a:ext cx="1756800" cy="390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90757" y="4500890"/>
            <a:ext cx="27020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97BC62"/>
                </a:solidFill>
              </a:rPr>
              <a:t>Role Select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57690"/>
            <a:ext cx="284378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</a:rPr>
              <a:t>✓ Role-based login
✓ Customer account grid
✓ State › City › Site picker
✓ DONE / PENDING status
✓ Mark as Picked Up</a:t>
            </a:r>
          </a:p>
        </p:txBody>
      </p:sp>
      <p:pic>
        <p:nvPicPr>
          <p:cNvPr id="10" name="Picture 9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97A31930-531B-9D19-F4DC-4C554B165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937" y="-2982"/>
            <a:ext cx="4377447" cy="5143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92809" y="4565043"/>
            <a:ext cx="27020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97BC62"/>
                </a:solidFill>
              </a:rPr>
              <a:t>Collection Dashboard</a:t>
            </a:r>
          </a:p>
        </p:txBody>
      </p:sp>
    </p:spTree>
    <p:extLst>
      <p:ext uri="{BB962C8B-B14F-4D97-AF65-F5344CB8AC3E}">
        <p14:creationId xmlns:p14="http://schemas.microsoft.com/office/powerpoint/2010/main" val="1348161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97BC62"/>
                </a:solidFill>
              </a:rPr>
              <a:t>Vendor Mobile App — Assigned Pickups &amp; Job Completion</a:t>
            </a:r>
          </a:p>
        </p:txBody>
      </p:sp>
      <p:pic>
        <p:nvPicPr>
          <p:cNvPr id="4" name="Picture 3" descr="vendor_job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156" y="868680"/>
            <a:ext cx="1394559" cy="3099021"/>
          </a:xfrm>
          <a:prstGeom prst="rect">
            <a:avLst/>
          </a:prstGeom>
        </p:spPr>
      </p:pic>
      <p:pic>
        <p:nvPicPr>
          <p:cNvPr id="5" name="Picture 4" descr="vendor_active_j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469" y="868680"/>
            <a:ext cx="1394559" cy="30990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80409" y="4104861"/>
            <a:ext cx="27020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97BC62"/>
                </a:solidFill>
              </a:rPr>
              <a:t>Assigned Jobs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28715" y="4104861"/>
            <a:ext cx="27020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97BC62"/>
                </a:solidFill>
              </a:rPr>
              <a:t>Mark as Picked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06002"/>
            <a:ext cx="284378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Role-based login
✓ Customer account grid
✓ State › City › Site picker
✓ DONE / PENDING status
✓ Mark as Picked Up</a:t>
            </a:r>
          </a:p>
        </p:txBody>
      </p:sp>
    </p:spTree>
    <p:extLst>
      <p:ext uri="{BB962C8B-B14F-4D97-AF65-F5344CB8AC3E}">
        <p14:creationId xmlns:p14="http://schemas.microsoft.com/office/powerpoint/2010/main" val="3524426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8229600" cy="54864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664208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9184" y="17145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1920240" cy="2743200"/>
          </a:xfrm>
          <a:prstGeom prst="rect">
            <a:avLst/>
          </a:prstGeom>
          <a:solidFill>
            <a:srgbClr val="F9FAF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084832"/>
            <a:ext cx="192024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22199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+ vendor web panels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269748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mobile app (iOS/Android)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317296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14-site godown network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3648456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Photo-proof collection flow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412394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Excel/PDF reporting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664208"/>
            <a:ext cx="384048" cy="384048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78024" y="1726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514600" y="2084832"/>
            <a:ext cx="1920240" cy="2743200"/>
          </a:xfrm>
          <a:prstGeom prst="rect">
            <a:avLst/>
          </a:prstGeom>
          <a:solidFill>
            <a:srgbClr val="F9FAF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2084832"/>
            <a:ext cx="1920240" cy="7315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24328" y="222199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dashboard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24328" y="269748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(FCM)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24328" y="317296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(Hindi)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24328" y="3648456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godown import/export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24328" y="412394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performance scoring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94960" y="1664208"/>
            <a:ext cx="384048" cy="384048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58868" y="1709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663440" y="2084832"/>
            <a:ext cx="1920240" cy="2743200"/>
          </a:xfrm>
          <a:prstGeom prst="rect">
            <a:avLst/>
          </a:prstGeom>
          <a:solidFill>
            <a:srgbClr val="F9FAF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084832"/>
            <a:ext cx="1920240" cy="7315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22199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engine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73168" y="269748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capacity alerts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73168" y="317296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QR-coded challan generation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73168" y="3648456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invoicing module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73168" y="412394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bot integration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543800" y="1664208"/>
            <a:ext cx="384048" cy="38404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12280" y="1719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812280" y="2084832"/>
            <a:ext cx="1920240" cy="2743200"/>
          </a:xfrm>
          <a:prstGeom prst="rect">
            <a:avLst/>
          </a:prstGeom>
          <a:solidFill>
            <a:srgbClr val="F9FAF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084832"/>
            <a:ext cx="1920240" cy="7315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22008" y="222199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marketplace pricing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22008" y="269748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credit tracking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922008" y="317296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EPR reporting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22008" y="3648456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vendor onboarding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922008" y="412394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expansion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681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backbone of India's circular economy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474720" y="1828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388E3C"/>
                </a:solidFill>
              </a:rPr>
              <a:t>♻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a Cleaner India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828800" y="34290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trustmerecycle.in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34290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admin@trustmerecycle.com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TrustMeRecycle · Scrap Collection Made Easy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AC9B34C-E938-6D4D-98F6-188C2F47CACB}">
  <we:reference id="wa200010001" version="1.0.0.1" store="en-GB" storeType="OMEX"/>
  <we:alternateReferences>
    <we:reference id="WA200010001" version="1.0.0.1" store="" storeType="OMEX"/>
  </we:alternateReferences>
  <we:properties>
    <we:property name="claude.fileId" value="&quot;78e7d62f-30aa-4812-af52-5297015f199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798</Words>
  <Application>Microsoft Macintosh PowerPoint</Application>
  <PresentationFormat>On-screen Show (16:9)</PresentationFormat>
  <Paragraphs>167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TrustMeRecycle Pitch Deck</dc:title>
  <dc:subject>PptxGenJS Presentation</dc:subject>
  <dc:creator>TrustMeRecycle</dc:creator>
  <cp:lastModifiedBy>sumit ranjan</cp:lastModifiedBy>
  <cp:revision>5</cp:revision>
  <dcterms:created xsi:type="dcterms:W3CDTF">2026-06-17T06:10:46Z</dcterms:created>
  <dcterms:modified xsi:type="dcterms:W3CDTF">2026-06-17T07:34:34Z</dcterms:modified>
</cp:coreProperties>
</file>